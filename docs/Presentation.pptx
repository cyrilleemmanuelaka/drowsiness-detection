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EAR</c:v>
                </c:pt>
              </c:strCache>
            </c:strRef>
          </c:tx>
          <c:spPr>
            <a:solidFill>
              <a:srgbClr val="0E7490"/>
            </a:solidFill>
            <a:ln w="38100" cap="flat">
              <a:solidFill>
                <a:srgbClr val="0E74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7490"/>
              </a:solidFill>
              <a:ln w="9525" cap="flat">
                <a:solidFill>
                  <a:srgbClr val="0E74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0.3</c:v>
                </c:pt>
                <c:pt idx="1">
                  <c:v>0.31</c:v>
                </c:pt>
                <c:pt idx="2">
                  <c:v>0.3</c:v>
                </c:pt>
                <c:pt idx="3">
                  <c:v>0.29</c:v>
                </c:pt>
                <c:pt idx="4">
                  <c:v>0.3</c:v>
                </c:pt>
                <c:pt idx="5">
                  <c:v>0.3</c:v>
                </c:pt>
                <c:pt idx="6">
                  <c:v>0.28</c:v>
                </c:pt>
                <c:pt idx="7">
                  <c:v>0.2</c:v>
                </c:pt>
                <c:pt idx="8">
                  <c:v>0.13</c:v>
                </c:pt>
                <c:pt idx="9">
                  <c:v>0.12</c:v>
                </c:pt>
                <c:pt idx="10">
                  <c:v>0.14</c:v>
                </c:pt>
                <c:pt idx="11">
                  <c:v>0.22</c:v>
                </c:pt>
                <c:pt idx="12">
                  <c:v>0.29</c:v>
                </c:pt>
                <c:pt idx="13">
                  <c:v>0.3</c:v>
                </c:pt>
                <c:pt idx="14">
                  <c:v>0.3</c:v>
                </c:pt>
                <c:pt idx="15">
                  <c:v>0.31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Threshold (0.23)</c:v>
                </c:pt>
              </c:strCache>
            </c:strRef>
          </c:tx>
          <c:spPr>
            <a:solidFill>
              <a:srgbClr val="F97316"/>
            </a:solidFill>
            <a:ln w="38100" cap="flat">
              <a:solidFill>
                <a:srgbClr val="F973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0.23</c:v>
                </c:pt>
                <c:pt idx="1">
                  <c:v>0.23</c:v>
                </c:pt>
                <c:pt idx="2">
                  <c:v>0.23</c:v>
                </c:pt>
                <c:pt idx="3">
                  <c:v>0.23</c:v>
                </c:pt>
                <c:pt idx="4">
                  <c:v>0.23</c:v>
                </c:pt>
                <c:pt idx="5">
                  <c:v>0.23</c:v>
                </c:pt>
                <c:pt idx="6">
                  <c:v>0.23</c:v>
                </c:pt>
                <c:pt idx="7">
                  <c:v>0.23</c:v>
                </c:pt>
                <c:pt idx="8">
                  <c:v>0.23</c:v>
                </c:pt>
                <c:pt idx="9">
                  <c:v>0.23</c:v>
                </c:pt>
                <c:pt idx="10">
                  <c:v>0.23</c:v>
                </c:pt>
                <c:pt idx="11">
                  <c:v>0.23</c:v>
                </c:pt>
                <c:pt idx="12">
                  <c:v>0.23</c:v>
                </c:pt>
                <c:pt idx="13">
                  <c:v>0.23</c:v>
                </c:pt>
                <c:pt idx="14">
                  <c:v>0.23</c:v>
                </c:pt>
                <c:pt idx="15">
                  <c:v>0.23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64748B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4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EAR only</c:v>
                  </c:pt>
                  <c:pt idx="1">
                    <c:v>CNN only</c:v>
                  </c:pt>
                  <c:pt idx="2">
                    <c:v>Hybrid (ours)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</c:v>
                </c:pt>
                <c:pt idx="1">
                  <c:v>96</c:v>
                </c:pt>
                <c:pt idx="2">
                  <c:v>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image" Target="../media/image-9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548640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548640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548640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548640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PROJECT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Drowsiness</a:t>
            </a:r>
            <a:endParaRPr lang="en-US" sz="88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i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</a:t>
            </a:r>
            <a:endParaRPr lang="en-US" sz="88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36576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297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hybrid CNN + Eye Aspect Ratio approach for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" y="4709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awake/sleep monitoring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F1A4D"/>
          </a:solidFill>
          <a:ln w="12700">
            <a:solidFill>
              <a:srgbClr val="0F1A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TensorFlow / Keras  ·  OpenCV  ·  dlib  ·  Streamlit</a:t>
            </a:r>
            <a:endParaRPr lang="en-US" sz="13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8686800" y="1371600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Drowsiness is a silent, costly problem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20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91440" cy="3108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6974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100K+</a:t>
            </a:r>
            <a:endParaRPr lang="en-US" sz="6400" dirty="0"/>
          </a:p>
        </p:txBody>
      </p:sp>
      <p:sp>
        <p:nvSpPr>
          <p:cNvPr id="9" name="Text 6"/>
          <p:cNvSpPr/>
          <p:nvPr/>
        </p:nvSpPr>
        <p:spPr>
          <a:xfrm>
            <a:off x="822960" y="3749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crashes per year linked to drowsy driving (NHTSA)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1737360"/>
            <a:ext cx="3520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1737360"/>
            <a:ext cx="91440" cy="3108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01168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26974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6400" dirty="0"/>
          </a:p>
        </p:txBody>
      </p:sp>
      <p:sp>
        <p:nvSpPr>
          <p:cNvPr id="14" name="Text 10"/>
          <p:cNvSpPr/>
          <p:nvPr/>
        </p:nvSpPr>
        <p:spPr>
          <a:xfrm>
            <a:off x="4617720" y="3749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motor-vehicle fatalities involve fatigue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38160" y="1737360"/>
            <a:ext cx="3520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38160" y="1737360"/>
            <a:ext cx="91440" cy="3108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01168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26974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$109B</a:t>
            </a:r>
            <a:endParaRPr lang="en-US" sz="6400" dirty="0"/>
          </a:p>
        </p:txBody>
      </p:sp>
      <p:sp>
        <p:nvSpPr>
          <p:cNvPr id="19" name="Text 14"/>
          <p:cNvSpPr/>
          <p:nvPr/>
        </p:nvSpPr>
        <p:spPr>
          <a:xfrm>
            <a:off x="8412480" y="3749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societal cost of drowsy-driving incidents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22960" y="528523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A passive, vision-based system that detects drowsiness in real time can intervene before microsleeps occur.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OBJECTIVES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goals &amp; success criteria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FEF3EC"/>
          </a:solidFill>
          <a:ln w="12700">
            <a:solidFill>
              <a:srgbClr val="FEF3E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945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2057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drowsiness in real time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920240" y="256032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an alert within 1 second of sustained eye closure.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1691640"/>
            <a:ext cx="5440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011680"/>
            <a:ext cx="777240" cy="777240"/>
          </a:xfrm>
          <a:prstGeom prst="ellipse">
            <a:avLst/>
          </a:prstGeom>
          <a:solidFill>
            <a:srgbClr val="FEF3EC"/>
          </a:solidFill>
          <a:ln w="12700">
            <a:solidFill>
              <a:srgbClr val="FEF3E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1945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43800" y="2057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 to real-world conditions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543800" y="256032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Glasses, varying lighting, head pose - all handled gracefully.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4023360"/>
            <a:ext cx="5440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8680" y="4343400"/>
            <a:ext cx="777240" cy="777240"/>
          </a:xfrm>
          <a:prstGeom prst="ellipse">
            <a:avLst/>
          </a:prstGeom>
          <a:solidFill>
            <a:srgbClr val="FEF3EC"/>
          </a:solidFill>
          <a:ln w="12700">
            <a:solidFill>
              <a:srgbClr val="FEF3E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52628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20240" y="4389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on commodity hardware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920240" y="48920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FPS on a CPU laptop. No GPU required at inference.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172200" y="4023360"/>
            <a:ext cx="5440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92240" y="4343400"/>
            <a:ext cx="777240" cy="777240"/>
          </a:xfrm>
          <a:prstGeom prst="ellipse">
            <a:avLst/>
          </a:prstGeom>
          <a:solidFill>
            <a:srgbClr val="FEF3EC"/>
          </a:solidFill>
          <a:ln w="12700">
            <a:solidFill>
              <a:srgbClr val="FEF3E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52628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43800" y="4389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&amp; interpretable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543800" y="48920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provides explainability; CNN provides robustness.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DESIGN DECISION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hybrid approach?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signals, late-fused for the best of both worlds.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5204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38100" dir="5400000">
              <a:srgbClr val="0F172A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20240"/>
            <a:ext cx="3520440" cy="7772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9339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 ONLY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ratio from 6 eye landmarks.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E7490"/>
                </a:solidFill>
              </a:rPr>
              <a:t>STRENGTHS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79476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fast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5074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97316"/>
                </a:solidFill>
              </a:rPr>
              <a:t>WEAKNESSES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53492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○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in low light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○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glasses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1920240"/>
            <a:ext cx="35204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38100" dir="5400000">
              <a:srgbClr val="0F172A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43400" y="1920240"/>
            <a:ext cx="3520440" cy="7772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99339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ONLY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17720" y="2834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classifier on 24x24 eye crops.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17720" y="3520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E7490"/>
                </a:solidFill>
              </a:rPr>
              <a:t>STRENGTHS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17720" y="379476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lighting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glasses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7720" y="5074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97316"/>
                </a:solidFill>
              </a:rPr>
              <a:t>WEAKNESSES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17720" y="53492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○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box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○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slower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38160" y="1920240"/>
            <a:ext cx="3520440" cy="4206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203200" dist="38100" dir="5400000">
              <a:srgbClr val="0F172A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38160" y="1920240"/>
            <a:ext cx="3520440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199339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(CHOSEN)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12480" y="2834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late fusion + smoothing.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12480" y="3520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97316"/>
                </a:solidFill>
              </a:rPr>
              <a:t>STRENGTHS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0" y="379476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+ robust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fallback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2057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48740" y="2011680"/>
            <a:ext cx="365760" cy="3657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4874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012" y="2514600"/>
            <a:ext cx="585216" cy="5852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3200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36118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Webcam, image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video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96896" y="3246120"/>
            <a:ext cx="173736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807208" y="2194560"/>
            <a:ext cx="2057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3028" y="2011680"/>
            <a:ext cx="365760" cy="3657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30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2514600"/>
            <a:ext cx="585216" cy="5852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898648" y="3200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detect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2898648" y="36118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dlib HOG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901184" y="3246120"/>
            <a:ext cx="173736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5111496" y="2194560"/>
            <a:ext cx="2057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957316" y="2011680"/>
            <a:ext cx="365760" cy="3657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95731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588" y="2514600"/>
            <a:ext cx="585216" cy="58521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02936" y="3200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Landmarks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5202936" y="36118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68-point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predictor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7205472" y="3246120"/>
            <a:ext cx="173736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7415784" y="2194560"/>
            <a:ext cx="2057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261604" y="2011680"/>
            <a:ext cx="365760" cy="3657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261604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876" y="2514600"/>
            <a:ext cx="585216" cy="58521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507224" y="3200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 scoring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7507224" y="36118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+ CNN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9509760" y="3246120"/>
            <a:ext cx="173736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9720072" y="2194560"/>
            <a:ext cx="2057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10565892" y="2011680"/>
            <a:ext cx="365760" cy="3657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1056589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6164" y="2514600"/>
            <a:ext cx="585216" cy="58521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811512" y="3200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</a:t>
            </a:r>
            <a:endParaRPr lang="en-US" sz="1600" dirty="0"/>
          </a:p>
        </p:txBody>
      </p:sp>
      <p:sp>
        <p:nvSpPr>
          <p:cNvPr id="38" name="Text 31"/>
          <p:cNvSpPr/>
          <p:nvPr/>
        </p:nvSpPr>
        <p:spPr>
          <a:xfrm>
            <a:off x="9811512" y="36118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Smoothed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vote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502920" y="5029200"/>
            <a:ext cx="11155680" cy="1097280"/>
          </a:xfrm>
          <a:prstGeom prst="rect">
            <a:avLst/>
          </a:prstGeom>
          <a:solidFill>
            <a:srgbClr val="FEF3EC"/>
          </a:solidFill>
          <a:ln w="12700">
            <a:solidFill>
              <a:srgbClr val="FEF3EC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257800"/>
            <a:ext cx="548640" cy="54864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463040" y="5257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budget: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~15 ms  ·  Landmarks ~5 ms  ·  EAR &lt;1 ms  ·  CNN ~5 ms  ·  Drawing ~3 ms</a:t>
            </a:r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~30 ms / frame  =  33 FPS on CPU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GEOMETRIC SIGNAL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1 — Eye Aspect Ratio (EAR)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Soukupová &amp; Čech (2016)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 is the ratio of vertical to horizontal eye distances.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566928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432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 = ( ‖p₂ − p₆‖ + ‖p₃ − p₅‖ ) / ( 2 · ‖p₁ − p₄‖ 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794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eye: 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≈ 0.30</a:t>
            </a:r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Closed eye: 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&lt; 0.20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Sub-millisecond, interpretable, no training data needed.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landmark noise and lighting, less reliable with glasses.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0" y="1554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EAR signal during a blink</a:t>
            </a:r>
            <a:endParaRPr lang="en-US" sz="1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675120" y="1920240"/>
          <a:ext cx="49377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DEEP LEARNING SIGNAL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2 — Lightweight CNN classifier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3-block convolutional network · ~80k parameters · 24×24 grayscale input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118872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4688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24×24×1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2948940"/>
            <a:ext cx="16459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993392" y="2240280"/>
            <a:ext cx="1371600" cy="1417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93392" y="2468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 32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93392" y="3017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+BN+Pool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64992" y="2948940"/>
            <a:ext cx="16459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529584" y="2240280"/>
            <a:ext cx="1371600" cy="1417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29584" y="2468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 64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29584" y="3017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+BN+Pool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01184" y="2948940"/>
            <a:ext cx="16459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65776" y="2240280"/>
            <a:ext cx="1463040" cy="1417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65776" y="2468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 128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65776" y="3017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+BN+GAP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28816" y="2948940"/>
            <a:ext cx="16459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93408" y="2240280"/>
            <a:ext cx="1325880" cy="1417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693408" y="24688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64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93408" y="30175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19288" y="2948940"/>
            <a:ext cx="16459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183880" y="2240280"/>
            <a:ext cx="1554480" cy="1417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183880" y="2468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Softmax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83880" y="3017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[closed, open]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06908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069080"/>
            <a:ext cx="91440" cy="21945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206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" y="4526280"/>
            <a:ext cx="51206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MRL Eye (~85k labeled crops)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Adam, lr=1e-3, ReduceLROnPlateau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categorical cross-entropy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Augmentation: rot ±10°, zoom, brightness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epochs · batch 64 · ~5 min on a single GPU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63640" y="406908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63640" y="4069080"/>
            <a:ext cx="91440" cy="21945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4206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(TEST SET)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92240" y="4572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7589520" y="4617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098280" y="4572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10195560" y="4617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92240" y="5349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7589520" y="5394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098280" y="5349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10195560" y="5394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DECISION LAYER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fusion &amp; temporal smoothing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03520" cy="4434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RULE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fused = w_ear · 1[EAR &lt; τ]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w_cnn · P(closed)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3383280"/>
            <a:ext cx="4846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566160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weights: 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 / 0.5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 threshold τ: 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0.23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Smoothing window: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frames (1 s)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Alarm trigger:   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consecutive frames &gt; 0.5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temporal smoothing?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26480" y="21031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100-ms blink should NOT trigger an alarm. Only sustained closure (≥ 0.7 s) means drowsiness.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3246120"/>
            <a:ext cx="164592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3246120"/>
            <a:ext cx="164592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3246120"/>
            <a:ext cx="164592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3246120"/>
            <a:ext cx="164592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3246120"/>
            <a:ext cx="164592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3246120"/>
            <a:ext cx="164592" cy="5486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3246120"/>
            <a:ext cx="164592" cy="5486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06640" y="3246120"/>
            <a:ext cx="164592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3246120"/>
            <a:ext cx="164592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0" y="3246120"/>
            <a:ext cx="164592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0" y="3246120"/>
            <a:ext cx="164592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3246120"/>
            <a:ext cx="164592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3246120"/>
            <a:ext cx="164592" cy="5486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03920" y="3246120"/>
            <a:ext cx="164592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0" y="3246120"/>
            <a:ext cx="164592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69680" y="3246120"/>
            <a:ext cx="164592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52560" y="3246120"/>
            <a:ext cx="164592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35440" y="3246120"/>
            <a:ext cx="164592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418320" y="3246120"/>
            <a:ext cx="164592" cy="5486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3246120"/>
            <a:ext cx="164592" cy="5486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84080" y="3246120"/>
            <a:ext cx="164592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966960" y="3246120"/>
            <a:ext cx="164592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49840" y="3246120"/>
            <a:ext cx="164592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332720" y="3246120"/>
            <a:ext cx="164592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515600" y="3246120"/>
            <a:ext cx="164592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698480" y="3246120"/>
            <a:ext cx="164592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881360" y="3246120"/>
            <a:ext cx="164592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064240" y="3246120"/>
            <a:ext cx="164592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247120" y="3246120"/>
            <a:ext cx="164592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430000" y="3246120"/>
            <a:ext cx="164592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→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26480" y="4251960"/>
            <a:ext cx="274320" cy="2286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4206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Awake (open)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955280" y="4251960"/>
            <a:ext cx="274320" cy="2286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21040" y="4206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closure (blink)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784080" y="4251960"/>
            <a:ext cx="274320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149840" y="4206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→ ALARM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26480" y="4983480"/>
            <a:ext cx="5486400" cy="1143000"/>
          </a:xfrm>
          <a:prstGeom prst="rect">
            <a:avLst/>
          </a:prstGeom>
          <a:solidFill>
            <a:srgbClr val="FEF3EC"/>
          </a:solidFill>
          <a:ln w="12700">
            <a:solidFill>
              <a:srgbClr val="FEF3EC"/>
            </a:solidFill>
            <a:prstDash val="solid"/>
          </a:ln>
        </p:spPr>
      </p:sp>
      <p:pic>
        <p:nvPicPr>
          <p:cNvPr id="5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5212080"/>
            <a:ext cx="457200" cy="457200"/>
          </a:xfrm>
          <a:prstGeom prst="rect">
            <a:avLst/>
          </a:prstGeom>
        </p:spPr>
      </p:pic>
      <p:sp>
        <p:nvSpPr>
          <p:cNvPr id="52" name="Text 49"/>
          <p:cNvSpPr/>
          <p:nvPr/>
        </p:nvSpPr>
        <p:spPr>
          <a:xfrm>
            <a:off x="6903720" y="50749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drop ~40% vs. EAR-only baseline in low-light conditions.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&amp; end-to-end results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572000" cy="4480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0604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3000" dirty="0"/>
          </a:p>
        </p:txBody>
      </p:sp>
      <p:sp>
        <p:nvSpPr>
          <p:cNvPr id="8" name="Text 5"/>
          <p:cNvSpPr/>
          <p:nvPr/>
        </p:nvSpPr>
        <p:spPr>
          <a:xfrm>
            <a:off x="777240" y="4023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FPS on a CPU laptop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4434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720p input — no GPU required.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" y="4983480"/>
            <a:ext cx="40233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512064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&lt;100 MB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~330 KB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94960" y="1691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by approach (validation set)</a:t>
            </a:r>
            <a:endParaRPr lang="en-US" sz="14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394960" y="2103120"/>
          <a:ext cx="6400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10"/>
          <p:cNvSpPr/>
          <p:nvPr/>
        </p:nvSpPr>
        <p:spPr>
          <a:xfrm>
            <a:off x="5394960" y="4937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Available demo modes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394960" y="534924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128" y="55321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2200" y="54406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Webcam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543800" y="534924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8" y="553212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21040" y="54406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9692640" y="534924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857232" y="548640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5248" y="560527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469880" y="54406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USE CASES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&amp; impact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94560"/>
            <a:ext cx="1051560" cy="1051560"/>
          </a:xfrm>
          <a:prstGeom prst="ellipse">
            <a:avLst/>
          </a:prstGeom>
          <a:solidFill>
            <a:srgbClr val="F0F9FB"/>
          </a:solidFill>
          <a:ln w="12700">
            <a:solidFill>
              <a:srgbClr val="F0F9F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42316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4028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monitoring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240280" y="26060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In-cabin systems for trucks, fleets, ride-share. Alert drivers before microsleep events.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691640"/>
            <a:ext cx="54406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2194560"/>
            <a:ext cx="1051560" cy="1051560"/>
          </a:xfrm>
          <a:prstGeom prst="ellipse">
            <a:avLst/>
          </a:prstGeom>
          <a:solidFill>
            <a:srgbClr val="F0F9FB"/>
          </a:solidFill>
          <a:ln w="12700">
            <a:solidFill>
              <a:srgbClr val="F0F9F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423160"/>
            <a:ext cx="594360" cy="5943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86384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safety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7863840" y="26060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machinery operators, night-shift workers. Prevent fatigue-driven incidents.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977640"/>
            <a:ext cx="54406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14400" y="4480560"/>
            <a:ext cx="1051560" cy="1051560"/>
          </a:xfrm>
          <a:prstGeom prst="ellipse">
            <a:avLst/>
          </a:prstGeom>
          <a:solidFill>
            <a:srgbClr val="F0F9FB"/>
          </a:solidFill>
          <a:ln w="12700">
            <a:solidFill>
              <a:srgbClr val="F0F9F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709160"/>
            <a:ext cx="594360" cy="5943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240280" y="4389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monitoring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2240280" y="48920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patients, sleep clinics. Track wakefulness without wearables.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172200" y="3977640"/>
            <a:ext cx="54406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37960" y="4480560"/>
            <a:ext cx="1051560" cy="1051560"/>
          </a:xfrm>
          <a:prstGeom prst="ellipse">
            <a:avLst/>
          </a:prstGeom>
          <a:solidFill>
            <a:srgbClr val="F0F9FB"/>
          </a:solidFill>
          <a:ln w="12700">
            <a:solidFill>
              <a:srgbClr val="F0F9F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709160"/>
            <a:ext cx="594360" cy="5943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863840" y="4389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learning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7863840" y="48920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analytics for remote students or e-learning platforms.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97316"/>
                </a:solidFill>
              </a:rPr>
              <a:t>WHAT'S NEXT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prototype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production.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4572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291840"/>
            <a:ext cx="365760" cy="3657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3246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face detection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37033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HOG with MTCNN/RetinaFace for wider angle coverage.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3291840"/>
            <a:ext cx="365760" cy="3657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12280" y="3246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cues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12280" y="37033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yawn detection (mouth aspect ratio) and head-pose tracking.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365760" cy="3657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4663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deployment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5120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port; target 30 FPS on a mid-range smartphone.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4709160"/>
            <a:ext cx="365760" cy="3657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12280" y="4663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Larger, more diverse training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12280" y="5120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UTA-RLDD dataset; richer demographics &amp; lighting conditions.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F1A4D"/>
          </a:solidFill>
          <a:ln w="12700">
            <a:solidFill>
              <a:srgbClr val="0F1A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626364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F97316"/>
                </a:solidFill>
              </a:rPr>
              <a:t>THANK YOU   ·   </a:t>
            </a:r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Questions?   ·   </a:t>
            </a:r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 /drowsiness-detection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Drowsiness Detection - Hybrid CNN + EAR</dc:title>
  <dc:subject>PptxGenJS Presentation</dc:subject>
  <dc:creator>Drowsiness Detection Project</dc:creator>
  <cp:lastModifiedBy>Drowsiness Detection Project</cp:lastModifiedBy>
  <cp:revision>1</cp:revision>
  <dcterms:created xsi:type="dcterms:W3CDTF">2026-05-04T23:36:32Z</dcterms:created>
  <dcterms:modified xsi:type="dcterms:W3CDTF">2026-05-04T23:36:32Z</dcterms:modified>
</cp:coreProperties>
</file>